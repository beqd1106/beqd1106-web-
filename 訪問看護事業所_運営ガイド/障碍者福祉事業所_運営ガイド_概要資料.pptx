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11880"/>
            <a:ext cx="12188952" cy="9144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eiryo UI"/>
              </a:rPr>
              <a:t>障碍者福祉事業所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875A"/>
                </a:solidFill>
                <a:latin typeface="Meiryo UI"/>
              </a:rPr>
              <a:t>運 営 ガ イ 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eiryo UI"/>
              </a:rPr>
              <a:t>訪問看護  ／  就労継続支援A型・B型  ／  相談支援事業所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AEADA"/>
                </a:solidFill>
                <a:latin typeface="Meiryo UI"/>
              </a:rPr>
              <a:t>京都府・京都市 対応版  ｜  2026年度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2560320" cy="164592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D4875A"/>
                </a:solidFill>
                <a:latin typeface="Meiryo U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6558"/>
                </a:solidFill>
                <a:latin typeface="Meiryo UI"/>
              </a:rPr>
              <a:t>ページ
のHTMLガイド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931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931920"/>
            <a:ext cx="2560320" cy="164592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7AB592"/>
                </a:solidFill>
                <a:latin typeface="Meiryo UI"/>
              </a:rPr>
              <a:t>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074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6558"/>
                </a:solidFill>
                <a:latin typeface="Meiryo UI"/>
              </a:rPr>
              <a:t>種類の
様式フォーマット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2560320" cy="164592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0B840"/>
                </a:solidFill>
                <a:latin typeface="Meiryo UI"/>
              </a:rPr>
              <a:t>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074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6558"/>
                </a:solidFill>
                <a:latin typeface="Meiryo UI"/>
              </a:rPr>
              <a:t>＋年間
スケジュール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93192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3931920"/>
            <a:ext cx="2560320" cy="164592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9E4A28"/>
                </a:solidFill>
                <a:latin typeface="Meiryo UI"/>
              </a:rPr>
              <a:t>無料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6558"/>
                </a:solidFill>
                <a:latin typeface="Meiryo UI"/>
              </a:rPr>
              <a:t>で開ける
ブラウザ完結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このガイドが解決すること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875A"/>
                </a:solidFill>
                <a:latin typeface="Meiryo UI"/>
              </a:rPr>
              <a:t>障碍者福祉事業所の運営で直面する3大課題を一発解消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eiryo UI"/>
              </a:rPr>
              <a:t>障碍者福祉事業所 運営ガイド  |  京都府対応版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3566160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Meiryo UI"/>
              </a:rPr>
              <a:t>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3018"/>
                </a:solidFill>
                <a:latin typeface="Meiryo UI"/>
              </a:rPr>
              <a:t>情報が散らばっている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6558"/>
                </a:solidFill>
                <a:latin typeface="Meiryo UI"/>
              </a:rPr>
              <a:t>【課題】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2D24"/>
                </a:solidFill>
                <a:latin typeface="Meiryo UI"/>
              </a:rPr>
              <a:t>法令・書類・申請手続き・請求方法が
それぞれ別の場所に存在し、
担当者が毎回調べ直している。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3291840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B592"/>
                </a:solidFill>
                <a:latin typeface="Meiryo UI"/>
              </a:rPr>
              <a:t>【解決】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7083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018"/>
                </a:solidFill>
                <a:latin typeface="Meiryo UI"/>
              </a:rPr>
              <a:t>→ 13ページのHTMLに
　全情報を一元集約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463040"/>
            <a:ext cx="3566160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Meiryo UI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3018"/>
                </a:solidFill>
                <a:latin typeface="Meiryo UI"/>
              </a:rPr>
              <a:t>書類・様式を探すのが大変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6558"/>
                </a:solidFill>
                <a:latin typeface="Meiryo UI"/>
              </a:rPr>
              <a:t>【課題】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5420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2D24"/>
                </a:solidFill>
                <a:latin typeface="Meiryo UI"/>
              </a:rPr>
              <a:t>指定申請書・個別支援計画・処遇改善加算
様式など、毎回公式サイトを
探し回っている。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977639"/>
            <a:ext cx="3291840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B592"/>
                </a:solidFill>
                <a:latin typeface="Meiryo UI"/>
              </a:rPr>
              <a:t>【解決】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7083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018"/>
                </a:solidFill>
                <a:latin typeface="Meiryo UI"/>
              </a:rPr>
              <a:t>→ 56種の様式を
　ボタン1クリックで取得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46304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1463040"/>
            <a:ext cx="3566160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latin typeface="Meiryo UI"/>
              </a:rPr>
              <a:t>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A3018"/>
                </a:solidFill>
                <a:latin typeface="Meiryo UI"/>
              </a:rPr>
              <a:t>期限管理が属人化している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6558"/>
                </a:solidFill>
                <a:latin typeface="Meiryo UI"/>
              </a:rPr>
              <a:t>【課題】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54203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2D24"/>
                </a:solidFill>
                <a:latin typeface="Meiryo UI"/>
              </a:rPr>
              <a:t>毎月10日の請求・4月15日の処遇改善
届出・6年毎の指定更新など
重要期限を個人が管理している。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977639"/>
            <a:ext cx="3291840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B592"/>
                </a:solidFill>
                <a:latin typeface="Meiryo UI"/>
              </a:rPr>
              <a:t>【解決】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37083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3018"/>
                </a:solidFill>
                <a:latin typeface="Meiryo UI"/>
              </a:rPr>
              <a:t>→ 年間スケジュールページで
　全期限を一覧管理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コンテンツマップ（全13ページ）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875A"/>
                </a:solidFill>
                <a:latin typeface="Meiryo UI"/>
              </a:rPr>
              <a:t>index.htmlを開くだけでナビゲートできます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eiryo UI"/>
              </a:rPr>
              <a:t>障碍者福祉事業所 運営ガイド  |  京都府対応版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463040"/>
            <a:ext cx="283464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⚖️ 法令・制度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8483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医療系・障碍者福祉系の全法令
京都府条例・最近の改正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1256" y="1463040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1256" y="1463040"/>
            <a:ext cx="283464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📋 必要書類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208483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指定申請書類14種
日常業務記録書・保管期間一覧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463040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1463040"/>
            <a:ext cx="283464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📅 管理業務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08483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月次カレンダー・スタッフ管理
実地指導対策チェック100項目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8" y="1463040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6568" y="1463040"/>
            <a:ext cx="283464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6276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🏛️ 京都府・手続き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08483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実際の電話番号・窓口URL
申請フロー・様式ダウンロードリンク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182112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182112"/>
            <a:ext cx="283464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467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💴 訪問看護 請求業務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80390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療養費の仕組み・加算一覧
月次スケジュール・返戻対処法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91256" y="3182112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91256" y="3182112"/>
            <a:ext cx="2834640" cy="128016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33467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🏢 就労継続支援A型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2696" y="380390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スコア方式200点の解説
最低賃金対応・申請書類一覧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3182112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182112"/>
            <a:ext cx="2834640" cy="128016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3467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🏭 就労継続支援B型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352" y="380390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工賃管理・京都市総量規制
6:1配置新設・加算一覧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16568" y="3182112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16568" y="3182112"/>
            <a:ext cx="2834640" cy="128016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8008" y="334670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💬 相談支援事業所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3803904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計画相談・地域相談の違い
相談支援専門員の要件・報酬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4901183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4901183"/>
            <a:ext cx="2834640" cy="128016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065775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🔍 監査・運営指導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522975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運営指導vs監査の違い
当日フロー・自主点検100項目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91256" y="4901183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91256" y="4901183"/>
            <a:ext cx="2834640" cy="128016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82696" y="5065775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📈 収入向上・加算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82696" y="5522975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処遇改善加算Ⅰ〜Ⅴ最大化
稼働率・多機能型の戦略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53912" y="4901183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53912" y="4901183"/>
            <a:ext cx="2834640" cy="128016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5065775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📆 年間スケジュール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5522975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月別期限カレンダー
研修・指定更新・複数年サイクル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16568" y="4901183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16568" y="4901183"/>
            <a:ext cx="2834640" cy="128016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08008" y="5065775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❓ よくある質問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08008" y="5522975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5カテゴリ・20問のQ&amp;A
現場でよくある疑問に完全回答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6620256"/>
            <a:ext cx="283464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8600" y="6620256"/>
            <a:ext cx="2834640" cy="12801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67848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A3018"/>
                </a:solidFill>
                <a:latin typeface="Meiryo UI"/>
              </a:rPr>
              <a:t>📁 様式フォーマット集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7242048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56ファイルをカテゴリ別
ワンクリックでExcel・Wordを取得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様式フォーマット集（56ファイル）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875A"/>
                </a:solidFill>
                <a:latin typeface="Meiryo UI"/>
              </a:rPr>
              <a:t>公式様式23件＋オリジナル33件をブラウザから直接ダウンロード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eiryo UI"/>
              </a:rPr>
              <a:t>障碍者福祉事業所 運営ガイド  |  京都府対応版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2816352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527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01
指定申請様式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554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11件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京都府・京都市の公式申請書
事前相談票・従業者一覧・資金計画
就労継続支援・相談支援申請書　など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15087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544" y="1508760"/>
            <a:ext cx="2816352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1527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02
訪問看護記録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3" y="1554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9件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20574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訪問看護計画書（厚労省公式）
指示書・記録書Ⅰ・Ⅱ・報告書
精神科版・退院前カンファレンス記録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5087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508760"/>
            <a:ext cx="2816352" cy="502920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27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03
就労支援記録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1554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11件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7" y="20574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個別支援計画（京都府公式）
モニタリング・アセスメント
工賃台帳・賃金台帳・日報　など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1432" y="15087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1432" y="1508760"/>
            <a:ext cx="2816352" cy="502920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1527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04
相談支援様式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1554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3件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0574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個別支援計画参考様式（厚労省）
こども家庭庁 別表様式
サービス担当者会議記録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233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023360"/>
            <a:ext cx="2816352" cy="502920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4041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05
処遇改善加算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069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6件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5720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計画書（令和7年度・4/15提出）
実績報告書（7/31提出）
記入例・変更届・特別事情届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9544" y="40233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9544" y="4023360"/>
            <a:ext cx="2816352" cy="502920"/>
          </a:xfrm>
          <a:prstGeom prst="rect">
            <a:avLst/>
          </a:prstGeom>
          <a:solidFill>
            <a:srgbClr val="9E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2696" y="4041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06
事故苦情管理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9783" y="4069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10件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00984" y="45720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事故報告書・ヒヤリハット
苦情受付・研修記録
シフト表・業務日誌・体制届チェック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0488" y="4023360"/>
            <a:ext cx="281635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0488" y="4023360"/>
            <a:ext cx="2816352" cy="502920"/>
          </a:xfrm>
          <a:prstGeom prst="rect">
            <a:avLst/>
          </a:prstGeom>
          <a:solidFill>
            <a:srgbClr val="5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0416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07
運営規程ひな形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4069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Meiryo UI"/>
              </a:rPr>
              <a:t>6件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1927" y="4572000"/>
            <a:ext cx="2651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6558"/>
                </a:solidFill>
                <a:latin typeface="Meiryo UI"/>
              </a:rPr>
              <a:t>訪問看護・就労継続支援B型
特定相談支援事業所 運営規程
重要事項説明書・秘密保持誓約書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運営への4つの貢献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875A"/>
                </a:solidFill>
                <a:latin typeface="Meiryo UI"/>
              </a:rPr>
              <a:t>このガイドが事業所にもたらす具体的な価値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eiryo UI"/>
              </a:rPr>
              <a:t>障碍者福祉事業所 運営ガイド  |  京都府対応版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669280" cy="128016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691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⏱️ 業務時間の短縮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2D24"/>
                </a:solidFill>
                <a:latin typeface="Meiryo UI"/>
              </a:rPr>
              <a:t>毎回Webで調べていた法令・申請書類・
加算要件の検索がゼロに。
▶ 様式DLは1クリック
▶ 年間期限は一覧で確認
▶ Q&amp;Aで疑問を即解消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194560"/>
            <a:ext cx="2103120" cy="914400"/>
          </a:xfrm>
          <a:prstGeom prst="rect">
            <a:avLst/>
          </a:prstGeom>
          <a:solidFill>
            <a:srgbClr val="FA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286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4875A"/>
                </a:solidFill>
                <a:latin typeface="Meiryo UI"/>
              </a:rPr>
              <a:t>想定削減：月10〜20時間の検索時間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128016"/>
          </a:xfrm>
          <a:prstGeom prst="rect">
            <a:avLst/>
          </a:prstGeom>
          <a:solidFill>
            <a:srgbClr val="7AB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⚖️ コンプライアンス強化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2D24"/>
                </a:solidFill>
                <a:latin typeface="Meiryo UI"/>
              </a:rPr>
              <a:t>法令・運営基準・実地指導ポイントを
正確に把握して運営できる。
▶ 自主点検100項目チェック
▶ 年間提出期限を見える化
▶ 不正リスクの事前回避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2194560"/>
            <a:ext cx="2103120" cy="914400"/>
          </a:xfrm>
          <a:prstGeom prst="rect">
            <a:avLst/>
          </a:prstGeom>
          <a:solidFill>
            <a:srgbClr val="FA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286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B592"/>
                </a:solidFill>
                <a:latin typeface="Meiryo UI"/>
              </a:rPr>
              <a:t>実地指導での「不備ゼロ」を目指す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5669280" cy="12801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2976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💴 収入の最大化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2D24"/>
                </a:solidFill>
                <a:latin typeface="Meiryo UI"/>
              </a:rPr>
              <a:t>算定できる加算の取り漏らしを防止。
処遇改善加算Ⅰ取得で
職員採用力も同時に向上。
▶ 全加算の要件を一覧で確認
▶ 体制届チェックシートで管理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4800600"/>
            <a:ext cx="2103120" cy="914400"/>
          </a:xfrm>
          <a:prstGeom prst="rect">
            <a:avLst/>
          </a:prstGeom>
          <a:solidFill>
            <a:srgbClr val="FA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892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B840"/>
                </a:solidFill>
                <a:latin typeface="Meiryo UI"/>
              </a:rPr>
              <a:t>処遇改善加算Ⅰ取得で+15〜20%収入増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114800"/>
            <a:ext cx="566928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114800"/>
            <a:ext cx="5669280" cy="128016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2976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👥 チーム力の向上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006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2D24"/>
                </a:solidFill>
                <a:latin typeface="Meiryo UI"/>
              </a:rPr>
              <a:t>情報を個人が抱え込まず
チーム全員でアクセスできる
運営ガイドとして活用。
▶ ひな形で書類作成を標準化
▶ 新人教育資料としても活用可能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4800600"/>
            <a:ext cx="2103120" cy="914400"/>
          </a:xfrm>
          <a:prstGeom prst="rect">
            <a:avLst/>
          </a:prstGeom>
          <a:solidFill>
            <a:srgbClr val="FA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48920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3018"/>
                </a:solidFill>
                <a:latin typeface="Meiryo UI"/>
              </a:rPr>
              <a:t>属人化リスクを組織的に解消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使い方ガイド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875A"/>
                </a:solidFill>
                <a:latin typeface="Meiryo UI"/>
              </a:rPr>
              <a:t>ダウンロードフォルダを開くだけで使えます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eiryo UI"/>
              </a:rPr>
              <a:t>障碍者福祉事業所 運営ガイド  |  京都府対応版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7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4875A"/>
                </a:solidFill>
                <a:latin typeface="Meiryo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27432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📁 フォルダを開く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6558"/>
                </a:solidFill>
                <a:latin typeface="Meiryo UI"/>
              </a:rPr>
              <a:t>Downloads →
訪問看護事業所_運営ガイド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4875A"/>
                </a:solidFill>
                <a:latin typeface="Meiryo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554480"/>
            <a:ext cx="27432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554480"/>
            <a:ext cx="2743200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🌐 index.html を開く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97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6558"/>
                </a:solidFill>
                <a:latin typeface="Meiryo UI"/>
              </a:rPr>
              <a:t>ブラウザ（Chrome等）で
ダブルクリック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4875A"/>
                </a:solidFill>
                <a:latin typeface="Meiryo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27432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📖 目的のページへ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697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6558"/>
                </a:solidFill>
                <a:latin typeface="Meiryo UI"/>
              </a:rPr>
              <a:t>ナビまたはカードから
13ページに直接アクセス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554480"/>
            <a:ext cx="27432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554480"/>
            <a:ext cx="2743200" cy="50292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A3018"/>
                </a:solidFill>
                <a:latin typeface="Meiryo UI"/>
              </a:rPr>
              <a:t>📥 様式をDL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69748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6558"/>
                </a:solidFill>
                <a:latin typeface="Meiryo UI"/>
              </a:rPr>
              <a:t>ページ内の 📥様式DL ボタン
または📁様式DLナビから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46320"/>
            <a:ext cx="11612880" cy="1691640"/>
          </a:xfrm>
          <a:prstGeom prst="rect">
            <a:avLst/>
          </a:prstGeom>
          <a:solidFill>
            <a:srgbClr val="FA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11612880" cy="9144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875A"/>
                </a:solidFill>
                <a:latin typeface="Meiryo UI"/>
              </a:rPr>
              <a:t>💡 活用ヒント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30368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2D24"/>
                </a:solidFill>
                <a:latin typeface="Meiryo UI"/>
              </a:rPr>
              <a:t>• スマートフォンからも閲覧OK（レスポンシブデザイン対応）
• 印刷したい場合は各ページのChrome印刷機能を使用（Ctrl+P）
• フォーマット集のExcelファイルはそのまま編集・保存して使用可能
• 公式様式は改定時に再ダウンロードしてください（厚労省・京都府サイトへのリンクあり）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eiryo UI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AEADA"/>
                </a:solidFill>
                <a:latin typeface="Meiryo UI"/>
              </a:rPr>
              <a:t>このガイドがあれば、障碍者福祉事業所の運営に必要な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eiryo UI"/>
              </a:rPr>
              <a:t>「調べる」「書類を探す」「期限を確認する」が
すべて1か所で完結します。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法令・制度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10以上の法令を
分かりやすく整理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6888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46888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633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申請・書類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公式様式23件を
直接DL可能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46888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46888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633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管理業務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月次・年次業務を
カレンダーで把握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収入向上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全加算・処遇改善の
要件を完全網羅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38912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38912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監査対策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983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自主点検100項目
チェックリスト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389120"/>
            <a:ext cx="3474720" cy="1691640"/>
          </a:xfrm>
          <a:prstGeom prst="rect">
            <a:avLst/>
          </a:prstGeom>
          <a:solidFill>
            <a:srgbClr val="5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4389120"/>
            <a:ext cx="3474720" cy="109728"/>
          </a:xfrm>
          <a:prstGeom prst="rect">
            <a:avLst/>
          </a:prstGeom>
          <a:solidFill>
            <a:srgbClr val="D4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875A"/>
                </a:solidFill>
                <a:latin typeface="Meiryo UI"/>
              </a:rPr>
              <a:t>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983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eiryo UI"/>
              </a:rPr>
              <a:t>現場の疑問に
即答する20問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